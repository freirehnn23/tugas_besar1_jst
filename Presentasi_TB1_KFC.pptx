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20440" cy="109728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464040" y="109728"/>
            <a:ext cx="2724912" cy="109728"/>
          </a:xfrm>
          <a:prstGeom prst="rect">
            <a:avLst/>
          </a:prstGeom>
          <a:solidFill>
            <a:srgbClr val="3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195560" y="219456"/>
            <a:ext cx="1993392" cy="109728"/>
          </a:xfrm>
          <a:prstGeom prst="rect">
            <a:avLst/>
          </a:prstGeom>
          <a:solidFill>
            <a:srgbClr val="E6A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9875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7DDCD1"/>
                </a:solidFill>
                <a:latin typeface="Aptos"/>
              </a:rPr>
              <a:t>TUGAS BESAR 1 • JARINGAN SYARAF TIRUAN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97840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Klasifikasi Biner dengan</a:t>
            </a:r>
          </a:p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Perceptron dan ADALINE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89611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DAE3F0"/>
                </a:solidFill>
                <a:latin typeface="Aptos"/>
              </a:rPr>
              <a:t>Studi kasus transaksi penjualan KFC: Low Revenue vs High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66876"/>
            <a:ext cx="8961120" cy="172354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 dirty="0">
                <a:solidFill>
                  <a:srgbClr val="FFFFFF"/>
                </a:solidFill>
                <a:latin typeface="Aptos"/>
              </a:rPr>
              <a:t>Nama: </a:t>
            </a:r>
            <a:r>
              <a:rPr lang="en-US" sz="1300" dirty="0">
                <a:solidFill>
                  <a:srgbClr val="FFFFFF"/>
                </a:solidFill>
                <a:latin typeface="Aptos"/>
              </a:rPr>
              <a:t> </a:t>
            </a: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Aptos"/>
              </a:rPr>
              <a:t>	</a:t>
            </a: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Galih Pramana Chandra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Prasetya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71230976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Revaldo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Fransisco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Hohary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71231042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Orikonba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Fresli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Ronsumbre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71231043</a:t>
            </a: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Anto Jonthan </a:t>
            </a:r>
            <a:r>
              <a:rPr lang="en-US" sz="13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Pasribu</a:t>
            </a: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71231044</a:t>
            </a: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Freire Hanan Putra				71231046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199632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B2C2D7"/>
                </a:solidFill>
                <a:latin typeface="Aptos"/>
              </a:rPr>
              <a:t>FTI • Universitas Kristen Duta Wacana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82744"/>
                </a:solidFill>
                <a:latin typeface="Aptos"/>
              </a:rPr>
              <a:t>Ringkasan Kasus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239691"/>
                </a:solidFill>
                <a:latin typeface="Aptos"/>
              </a:rPr>
              <a:t>01 • KASUS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10927080" cy="2286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6C7C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65836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82744"/>
                </a:solidFill>
                <a:latin typeface="Aptos"/>
              </a:rPr>
              <a:t>Pertanyaan penelitian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649224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2B3441"/>
                </a:solidFill>
                <a:latin typeface="Aptos"/>
              </a:rPr>
              <a:t>Bisakah karakteristik transaksi KFC digunakan untuk mengklasifikasikan transaksi ke kelompok Low Revenue atau High Revenue?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481328"/>
            <a:ext cx="3794760" cy="118872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43800" y="1481328"/>
            <a:ext cx="64008" cy="1188720"/>
          </a:xfrm>
          <a:prstGeom prst="rect">
            <a:avLst/>
          </a:prstGeom>
          <a:solidFill>
            <a:srgbClr val="3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79" y="1609344"/>
            <a:ext cx="348386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82744"/>
                </a:solidFill>
                <a:latin typeface="Aptos"/>
              </a:rPr>
              <a:t>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011680"/>
            <a:ext cx="3483864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B3441"/>
                </a:solidFill>
                <a:latin typeface="Aptos"/>
              </a:rPr>
              <a:t>96,738 transaksi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3441"/>
                </a:solidFill>
                <a:latin typeface="Aptos"/>
              </a:rPr>
              <a:t>15 kolom awal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816352"/>
            <a:ext cx="3794760" cy="118872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2816352"/>
            <a:ext cx="64008" cy="118872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79" y="2944368"/>
            <a:ext cx="348386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82744"/>
                </a:solidFill>
                <a:latin typeface="Aptos"/>
              </a:rPr>
              <a:t>Batas 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346704"/>
            <a:ext cx="3483864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B3441"/>
                </a:solidFill>
                <a:latin typeface="Aptos"/>
              </a:rPr>
              <a:t>Median revenue = $18.10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B3441"/>
                </a:solidFill>
                <a:latin typeface="Aptos"/>
              </a:rPr>
              <a:t>Low: di bawah median • High: sama/di atas median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83280"/>
            <a:ext cx="3337560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383280"/>
            <a:ext cx="64008" cy="1417320"/>
          </a:xfrm>
          <a:prstGeom prst="rect">
            <a:avLst/>
          </a:prstGeom>
          <a:solidFill>
            <a:srgbClr val="3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511296"/>
            <a:ext cx="302666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82744"/>
                </a:solidFill>
                <a:latin typeface="Aptos"/>
              </a:rPr>
              <a:t>Kelas 0 — Low 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13632"/>
            <a:ext cx="3026664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B3441"/>
                </a:solidFill>
                <a:latin typeface="Aptos"/>
              </a:rPr>
              <a:t>48,351 transaksi (49.98%)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383280"/>
            <a:ext cx="2743200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3383280"/>
            <a:ext cx="64008" cy="141732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80" y="3511296"/>
            <a:ext cx="243230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82744"/>
                </a:solidFill>
                <a:latin typeface="Aptos"/>
              </a:rPr>
              <a:t>Kelas 1 — High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913632"/>
            <a:ext cx="2432304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B3441"/>
                </a:solidFill>
                <a:latin typeface="Aptos"/>
              </a:rPr>
              <a:t>48,387 transaksi (50.02%)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12080"/>
            <a:ext cx="106070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B3441"/>
                </a:solidFill>
                <a:latin typeface="Aptos"/>
              </a:rPr>
              <a:t>Tujuan: membandingkan proses belajar dan kinerja dua model neuron tunggal yang diimplementasikan sendiri menggunakan NumPy.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82744"/>
                </a:solidFill>
                <a:latin typeface="Aptos"/>
              </a:rPr>
              <a:t>Metode dan Penyiapan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239691"/>
                </a:solidFill>
                <a:latin typeface="Aptos"/>
              </a:rPr>
              <a:t>02 • METODE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10927080" cy="2286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6C7C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29000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64008" cy="1417320"/>
          </a:xfrm>
          <a:prstGeom prst="rect">
            <a:avLst/>
          </a:prstGeom>
          <a:solidFill>
            <a:srgbClr val="3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45336"/>
            <a:ext cx="311810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82744"/>
                </a:solidFill>
                <a:latin typeface="Aptos"/>
              </a:rPr>
              <a:t>1. Fitur masukan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47672"/>
            <a:ext cx="3118104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3441"/>
                </a:solidFill>
                <a:latin typeface="Aptos"/>
              </a:rPr>
              <a:t>Numerik: hour, items_count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3441"/>
                </a:solidFill>
                <a:latin typeface="Aptos"/>
              </a:rPr>
              <a:t>Kategorikal: day_of_week, country, city, channel, payment_method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29000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64008" cy="141732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545336"/>
            <a:ext cx="311810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82744"/>
                </a:solidFill>
                <a:latin typeface="Aptos"/>
              </a:rPr>
              <a:t>2. Pra-pemrosesan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47672"/>
            <a:ext cx="3118104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3441"/>
                </a:solidFill>
                <a:latin typeface="Aptos"/>
              </a:rPr>
              <a:t>One-hot encoding untuk kategori; StandardScaler untuk fitur setelah pembagian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29000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64008" cy="1417320"/>
          </a:xfrm>
          <a:prstGeom prst="rect">
            <a:avLst/>
          </a:prstGeom>
          <a:solidFill>
            <a:srgbClr val="E6A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545336"/>
            <a:ext cx="311810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82744"/>
                </a:solidFill>
                <a:latin typeface="Aptos"/>
              </a:rPr>
              <a:t>3. Pencegahan leakage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47672"/>
            <a:ext cx="3118104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B3441"/>
                </a:solidFill>
                <a:latin typeface="Aptos"/>
              </a:rPr>
              <a:t>Tidak memakai revenue_usd, subtotal_usd, discount_usd, delivery_fee_usd, dan transaction_id sebagai fitur.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154680"/>
            <a:ext cx="5166360" cy="155448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154680"/>
            <a:ext cx="64008" cy="1554480"/>
          </a:xfrm>
          <a:prstGeom prst="rect">
            <a:avLst/>
          </a:prstGeom>
          <a:solidFill>
            <a:srgbClr val="3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282696"/>
            <a:ext cx="485546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82744"/>
                </a:solidFill>
                <a:latin typeface="Aptos"/>
              </a:rPr>
              <a:t>Perceptron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85032"/>
            <a:ext cx="4855464" cy="941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B3441"/>
                </a:solidFill>
                <a:latin typeface="Aptos"/>
              </a:rPr>
              <a:t>Output ditentukan dengan ambang z = wᵀx + b. Bobot dan bias diperbarui per sampel ketika kelas salah diprediksi.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154680"/>
            <a:ext cx="5257800" cy="155448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3154680"/>
            <a:ext cx="64008" cy="155448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3282696"/>
            <a:ext cx="494690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82744"/>
                </a:solidFill>
                <a:latin typeface="Aptos"/>
              </a:rPr>
              <a:t>ADALINE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85032"/>
            <a:ext cx="4946904" cy="941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B3441"/>
                </a:solidFill>
                <a:latin typeface="Aptos"/>
              </a:rPr>
              <a:t>Menggunakan output linear dan memperbarui bobot dengan batch gradient descent untuk menurunkan Mean Squared Error (MSE).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166360"/>
            <a:ext cx="106984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06C7C"/>
                </a:solidFill>
                <a:latin typeface="Aptos"/>
              </a:rPr>
              <a:t>Kedua model dimulai dari bobot nol; target internal pembelajaran dipetakan ke −1 dan +1, lalu prediksi dilaporkan sebagai kelas 0 dan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82744"/>
                </a:solidFill>
                <a:latin typeface="Aptos"/>
              </a:rPr>
              <a:t>Rancangan Eksperimen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239691"/>
                </a:solidFill>
                <a:latin typeface="Aptos"/>
              </a:rPr>
              <a:t>03 • EKSPERIMEN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10927080" cy="2286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6C7C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2331720" cy="114300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72768"/>
            <a:ext cx="21122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606C7C"/>
                </a:solidFill>
                <a:latin typeface="Aptos"/>
              </a:rPr>
              <a:t>TOTAL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2148839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300" b="1">
                <a:solidFill>
                  <a:srgbClr val="3668BE"/>
                </a:solidFill>
                <a:latin typeface="Aptos"/>
              </a:rPr>
              <a:t>96,738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63040"/>
            <a:ext cx="2331720" cy="114300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47288" y="1572768"/>
            <a:ext cx="21122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606C7C"/>
                </a:solidFill>
                <a:latin typeface="Aptos"/>
              </a:rPr>
              <a:t>FITUR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901952"/>
            <a:ext cx="2148839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300" b="1">
                <a:solidFill>
                  <a:srgbClr val="239691"/>
                </a:solidFill>
                <a:latin typeface="Aptos"/>
              </a:rPr>
              <a:t>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463040"/>
            <a:ext cx="2331720" cy="114300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07608" y="1572768"/>
            <a:ext cx="21122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606C7C"/>
                </a:solidFill>
                <a:latin typeface="Aptos"/>
              </a:rPr>
              <a:t>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901952"/>
            <a:ext cx="2148839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300" b="1">
                <a:solidFill>
                  <a:srgbClr val="3668BE"/>
                </a:solidFill>
                <a:latin typeface="Aptos"/>
              </a:rPr>
              <a:t>77,390 (80%)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463040"/>
            <a:ext cx="2331720" cy="114300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67928" y="1572768"/>
            <a:ext cx="21122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606C7C"/>
                </a:solidFill>
                <a:latin typeface="Aptos"/>
              </a:rPr>
              <a:t>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1901952"/>
            <a:ext cx="2148839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300" b="1">
                <a:solidFill>
                  <a:srgbClr val="239691"/>
                </a:solidFill>
                <a:latin typeface="Aptos"/>
              </a:rPr>
              <a:t>19,348 (20%)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971800"/>
            <a:ext cx="4983480" cy="160020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2971800"/>
            <a:ext cx="64008" cy="1600200"/>
          </a:xfrm>
          <a:prstGeom prst="rect">
            <a:avLst/>
          </a:prstGeom>
          <a:solidFill>
            <a:srgbClr val="3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099816"/>
            <a:ext cx="467258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82744"/>
                </a:solidFill>
                <a:latin typeface="Aptos"/>
              </a:rPr>
              <a:t>Konfigurasi Perceptron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502152"/>
            <a:ext cx="46725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B3441"/>
                </a:solidFill>
                <a:latin typeface="Aptos"/>
              </a:rPr>
              <a:t>Learning rate (η) = 0,01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3441"/>
                </a:solidFill>
                <a:latin typeface="Aptos"/>
              </a:rPr>
              <a:t>30 epoch • bobot awal nol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3441"/>
                </a:solidFill>
                <a:latin typeface="Aptos"/>
              </a:rPr>
              <a:t>Update per sampel, urutan data tetap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971800"/>
            <a:ext cx="4983480" cy="160020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2971800"/>
            <a:ext cx="64008" cy="160020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3099816"/>
            <a:ext cx="467258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82744"/>
                </a:solidFill>
                <a:latin typeface="Aptos"/>
              </a:rPr>
              <a:t>Konfigurasi ADALINE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502152"/>
            <a:ext cx="46725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B3441"/>
                </a:solidFill>
                <a:latin typeface="Aptos"/>
              </a:rPr>
              <a:t>Learning rate (η) = 0,01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3441"/>
                </a:solidFill>
                <a:latin typeface="Aptos"/>
              </a:rPr>
              <a:t>100 epoch • bobot awal nol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3441"/>
                </a:solidFill>
                <a:latin typeface="Aptos"/>
              </a:rPr>
              <a:t>Batch gradient descent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074920"/>
            <a:ext cx="106070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B3441"/>
                </a:solidFill>
                <a:latin typeface="Aptos"/>
              </a:rPr>
              <a:t>Pembagian data: stratified 80:20, random_state = 42. StandardScaler di-fit pada data training saja, kemudian diterapkan ke data testing.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82744"/>
                </a:solidFill>
                <a:latin typeface="Aptos"/>
              </a:rPr>
              <a:t>Hasil Utama pada Data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239691"/>
                </a:solidFill>
                <a:latin typeface="Aptos"/>
              </a:rPr>
              <a:t>04 • HASIL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10927080" cy="2286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6C7C"/>
                </a:solidFill>
                <a:latin typeface="Aptos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508760"/>
          <a:ext cx="73609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73152" marR="73152" marT="54864" marB="54864">
                    <a:solidFill>
                      <a:srgbClr val="18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 marL="73152" marR="73152" marT="54864" marB="54864">
                    <a:solidFill>
                      <a:srgbClr val="18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 marL="73152" marR="73152" marT="54864" marB="54864">
                    <a:solidFill>
                      <a:srgbClr val="18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marL="73152" marR="73152" marT="54864" marB="54864">
                    <a:solidFill>
                      <a:srgbClr val="18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F1-score</a:t>
                      </a:r>
                    </a:p>
                  </a:txBody>
                  <a:tcPr marL="73152" marR="73152" marT="54864" marB="54864">
                    <a:solidFill>
                      <a:srgbClr val="18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B3441"/>
                          </a:solidFill>
                          <a:latin typeface="Aptos"/>
                        </a:rPr>
                        <a:t>Perceptron</a:t>
                      </a:r>
                    </a:p>
                  </a:txBody>
                  <a:tcPr marL="73152" marR="73152" marT="54864" marB="54864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441"/>
                          </a:solidFill>
                          <a:latin typeface="Aptos"/>
                        </a:rPr>
                        <a:t>73.75%</a:t>
                      </a:r>
                    </a:p>
                  </a:txBody>
                  <a:tcPr marL="73152" marR="73152" marT="54864" marB="54864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441"/>
                          </a:solidFill>
                          <a:latin typeface="Aptos"/>
                        </a:rPr>
                        <a:t>76.38%</a:t>
                      </a:r>
                    </a:p>
                  </a:txBody>
                  <a:tcPr marL="73152" marR="73152" marT="54864" marB="54864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441"/>
                          </a:solidFill>
                          <a:latin typeface="Aptos"/>
                        </a:rPr>
                        <a:t>68.80%</a:t>
                      </a:r>
                    </a:p>
                  </a:txBody>
                  <a:tcPr marL="73152" marR="73152" marT="54864" marB="54864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441"/>
                          </a:solidFill>
                          <a:latin typeface="Aptos"/>
                        </a:rPr>
                        <a:t>72.39%</a:t>
                      </a:r>
                    </a:p>
                  </a:txBody>
                  <a:tcPr marL="73152" marR="73152" marT="54864" marB="54864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B3441"/>
                          </a:solidFill>
                          <a:latin typeface="Aptos"/>
                        </a:rPr>
                        <a:t>ADALINE</a:t>
                      </a:r>
                    </a:p>
                  </a:txBody>
                  <a:tcPr marL="73152" marR="73152" marT="54864" marB="54864"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441"/>
                          </a:solidFill>
                          <a:latin typeface="Aptos"/>
                        </a:rPr>
                        <a:t>81.44%</a:t>
                      </a:r>
                    </a:p>
                  </a:txBody>
                  <a:tcPr marL="73152" marR="73152" marT="54864" marB="54864"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441"/>
                          </a:solidFill>
                          <a:latin typeface="Aptos"/>
                        </a:rPr>
                        <a:t>79.51%</a:t>
                      </a:r>
                    </a:p>
                  </a:txBody>
                  <a:tcPr marL="73152" marR="73152" marT="54864" marB="54864"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441"/>
                          </a:solidFill>
                          <a:latin typeface="Aptos"/>
                        </a:rPr>
                        <a:t>84.74%</a:t>
                      </a:r>
                    </a:p>
                  </a:txBody>
                  <a:tcPr marL="73152" marR="73152" marT="54864" marB="54864"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441"/>
                          </a:solidFill>
                          <a:latin typeface="Aptos"/>
                        </a:rPr>
                        <a:t>82.04%</a:t>
                      </a:r>
                    </a:p>
                  </a:txBody>
                  <a:tcPr marL="73152" marR="73152" marT="54864" marB="54864">
                    <a:solidFill>
                      <a:srgbClr val="E8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572768"/>
            <a:ext cx="2788920" cy="150876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58200" y="1572768"/>
            <a:ext cx="64008" cy="150876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41080" y="1700784"/>
            <a:ext cx="247802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82744"/>
                </a:solidFill>
                <a:latin typeface="Aptos"/>
              </a:rPr>
              <a:t>Model terbaik pada run 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103120"/>
            <a:ext cx="2478024" cy="8961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B3441"/>
                </a:solidFill>
                <a:latin typeface="Aptos"/>
              </a:rPr>
              <a:t>ADALINE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3441"/>
                </a:solidFill>
                <a:latin typeface="Aptos"/>
              </a:rPr>
              <a:t>Accuracy lebih tinggi daripada Perceptron.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86200"/>
            <a:ext cx="498348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3886200"/>
            <a:ext cx="64008" cy="1234440"/>
          </a:xfrm>
          <a:prstGeom prst="rect">
            <a:avLst/>
          </a:prstGeom>
          <a:solidFill>
            <a:srgbClr val="3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014215"/>
            <a:ext cx="467258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82744"/>
                </a:solidFill>
                <a:latin typeface="Aptos"/>
              </a:rPr>
              <a:t>Makna metrik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16552"/>
            <a:ext cx="46725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B3441"/>
                </a:solidFill>
                <a:latin typeface="Aptos"/>
              </a:rPr>
              <a:t>Precision: ketepatan prediksi High.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B3441"/>
                </a:solidFill>
                <a:latin typeface="Aptos"/>
              </a:rPr>
              <a:t>Recall: seberapa banyak transaksi High terdeteksi.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B3441"/>
                </a:solidFill>
                <a:latin typeface="Aptos"/>
              </a:rPr>
              <a:t>F1-score: keseimbangan precision dan recall.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86200"/>
            <a:ext cx="498348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3886200"/>
            <a:ext cx="64008" cy="123444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4014215"/>
            <a:ext cx="467258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82744"/>
                </a:solidFill>
                <a:latin typeface="Aptos"/>
              </a:rPr>
              <a:t>Interpretasi singkat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416552"/>
            <a:ext cx="46725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3441"/>
                </a:solidFill>
                <a:latin typeface="Aptos"/>
              </a:rPr>
              <a:t>Selisih accuracy: 7.69 poin persentase.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3441"/>
                </a:solidFill>
                <a:latin typeface="Aptos"/>
              </a:rPr>
              <a:t>ADALINE juga memiliki recall dan F1-score lebih tinggi.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53212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06C7C"/>
                </a:solidFill>
                <a:latin typeface="Aptos"/>
              </a:rPr>
              <a:t>Angka dihitung ulang dengan pipeline dan definisi model dari notebook yang diberikan.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82744"/>
                </a:solidFill>
                <a:latin typeface="Aptos"/>
              </a:rPr>
              <a:t>Bukti Visual: Proses Belajar dan Kesalahan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239691"/>
                </a:solidFill>
                <a:latin typeface="Aptos"/>
              </a:rPr>
              <a:t>04 • HASIL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10927080" cy="2286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6C7C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53312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82744"/>
                </a:solidFill>
                <a:latin typeface="Aptos"/>
              </a:rPr>
              <a:t>Kurva pembelajaran dari run aktual</a:t>
            </a:r>
          </a:p>
        </p:txBody>
      </p:sp>
      <p:pic>
        <p:nvPicPr>
          <p:cNvPr id="8" name="Picture 7" descr="JST_Kurva_Pembelajaran_Ak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6492240" cy="2331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60" y="1508760"/>
            <a:ext cx="3840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82744"/>
                </a:solidFill>
                <a:latin typeface="Aptos"/>
              </a:rPr>
              <a:t>Confusion matrix</a:t>
            </a:r>
          </a:p>
        </p:txBody>
      </p:sp>
      <p:pic>
        <p:nvPicPr>
          <p:cNvPr id="10" name="Picture 9" descr="JST_CM_perceptr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874519"/>
            <a:ext cx="1874519" cy="1645920"/>
          </a:xfrm>
          <a:prstGeom prst="rect">
            <a:avLst/>
          </a:prstGeom>
        </p:spPr>
      </p:pic>
      <p:pic>
        <p:nvPicPr>
          <p:cNvPr id="11" name="Picture 10" descr="JST_CM_ada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1874519"/>
            <a:ext cx="1874519" cy="1645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7240" y="4251960"/>
            <a:ext cx="5074920" cy="109728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4251960"/>
            <a:ext cx="64008" cy="1097280"/>
          </a:xfrm>
          <a:prstGeom prst="rect">
            <a:avLst/>
          </a:prstGeom>
          <a:solidFill>
            <a:srgbClr val="3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379976"/>
            <a:ext cx="476402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82744"/>
                </a:solidFill>
                <a:latin typeface="Aptos"/>
              </a:rPr>
              <a:t>Perceptron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82312"/>
            <a:ext cx="4764024" cy="4846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B3441"/>
                </a:solidFill>
                <a:latin typeface="Aptos"/>
              </a:rPr>
              <a:t>Kesalahan pada epoch terakhir: 20,792.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B3441"/>
                </a:solidFill>
                <a:latin typeface="Aptos"/>
              </a:rPr>
              <a:t>Jumlah kesalahan berubah dari epoch ke epoch.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251960"/>
            <a:ext cx="5074920" cy="109728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4251960"/>
            <a:ext cx="64008" cy="109728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4379976"/>
            <a:ext cx="476402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82744"/>
                </a:solidFill>
                <a:latin typeface="Aptos"/>
              </a:rPr>
              <a:t>ADALINE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782312"/>
            <a:ext cx="4764024" cy="4846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B3441"/>
                </a:solidFill>
                <a:latin typeface="Aptos"/>
              </a:rPr>
              <a:t>MSE awal: 1.000 • MSE akhir: 0.618.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B3441"/>
                </a:solidFill>
                <a:latin typeface="Aptos"/>
              </a:rPr>
              <a:t>MSE menurun selama proses pelatihan.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06C7C"/>
                </a:solidFill>
                <a:latin typeface="Aptos"/>
              </a:rPr>
              <a:t>Pada confusion matrix, baris menunjukkan kelas aktual dan kolom menunjukkan kelas prediksi; Low = 0, High =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82744"/>
                </a:solidFill>
                <a:latin typeface="Aptos"/>
              </a:rPr>
              <a:t>Keterbatasan dan Catatan Interpretasi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239691"/>
                </a:solidFill>
                <a:latin typeface="Aptos"/>
              </a:rPr>
              <a:t>05 • KETERBATASAN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10927080" cy="2286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6C7C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507492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64008" cy="1325880"/>
          </a:xfrm>
          <a:prstGeom prst="rect">
            <a:avLst/>
          </a:prstGeom>
          <a:solidFill>
            <a:srgbClr val="3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91056"/>
            <a:ext cx="476402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82744"/>
                </a:solidFill>
                <a:latin typeface="Aptos"/>
              </a:rPr>
              <a:t>Model linear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93392"/>
            <a:ext cx="4764024" cy="7132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B3441"/>
                </a:solidFill>
                <a:latin typeface="Aptos"/>
              </a:rPr>
              <a:t>Perceptron dan ADALINE membentuk batas keputusan linear; pola hubungan yang non-linear mungkin tidak tertangkap.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63040"/>
            <a:ext cx="507492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64008" cy="132588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591056"/>
            <a:ext cx="476402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82744"/>
                </a:solidFill>
                <a:latin typeface="Aptos"/>
              </a:rPr>
              <a:t>Batas label median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93392"/>
            <a:ext cx="4764024" cy="7132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3441"/>
                </a:solidFill>
                <a:latin typeface="Aptos"/>
              </a:rPr>
              <a:t>Label High/Low dibuat dari median revenue, bukan kategori bisnis yang ditentukan pakar. Transaksi dekat batas dapat memiliki karakteristik mirip.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108960"/>
            <a:ext cx="507492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3108960"/>
            <a:ext cx="64008" cy="1325880"/>
          </a:xfrm>
          <a:prstGeom prst="rect">
            <a:avLst/>
          </a:prstGeom>
          <a:solidFill>
            <a:srgbClr val="E6A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236976"/>
            <a:ext cx="476402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82744"/>
                </a:solidFill>
                <a:latin typeface="Aptos"/>
              </a:rPr>
              <a:t>Ruang eksperimen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639312"/>
            <a:ext cx="4764024" cy="7132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3441"/>
                </a:solidFill>
                <a:latin typeface="Aptos"/>
              </a:rPr>
              <a:t>Notebook menggunakan satu pembagian data (seed 42) dan satu learning rate untuk tiap model; hasil dapat berubah pada konfigurasi lain.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108960"/>
            <a:ext cx="507492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108960"/>
            <a:ext cx="64008" cy="1325880"/>
          </a:xfrm>
          <a:prstGeom prst="rect">
            <a:avLst/>
          </a:prstGeom>
          <a:solidFill>
            <a:srgbClr val="3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3236976"/>
            <a:ext cx="476402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82744"/>
                </a:solidFill>
                <a:latin typeface="Aptos"/>
              </a:rPr>
              <a:t>Evaluasi lanjutan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639312"/>
            <a:ext cx="4764024" cy="7132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3441"/>
                </a:solidFill>
                <a:latin typeface="Aptos"/>
              </a:rPr>
              <a:t>Perlu validasi silang, pengujian learning rate/epoch tambahan, dan perbandingan dengan model non-linear sebagai eksperimen lanjutan.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8348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B3441"/>
                </a:solidFill>
                <a:latin typeface="Aptos"/>
              </a:rPr>
              <a:t>Hasil pada satu split merupakan bukti untuk konfigurasi ini, bukan jaminan performa yang sama pada data atau pengaturan lain.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82744"/>
                </a:solidFill>
                <a:latin typeface="Aptos"/>
              </a:rP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239691"/>
                </a:solidFill>
                <a:latin typeface="Aptos"/>
              </a:rPr>
              <a:t>06 • KESIMPULAN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10927080" cy="2286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6C7C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B3441"/>
                </a:solidFill>
                <a:latin typeface="Aptos"/>
              </a:rPr>
              <a:t>1. Dataset berisi 96,738 transaksi berhasil dibentuk menjadi klasifikasi biner dengan batas median revenue $18.10.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B3441"/>
                </a:solidFill>
                <a:latin typeface="Aptos"/>
              </a:rPr>
              <a:t>2. Model menggunakan 30 fitur hasil pemilihan fitur dan one-hot encoding, dengan pencegahan target leakage.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B3441"/>
                </a:solidFill>
                <a:latin typeface="Aptos"/>
              </a:rPr>
              <a:t>3. Pada pengujian ini, Perceptron memperoleh accuracy 73.75%, sedangkan ADALINE 81.44%.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B3441"/>
                </a:solidFill>
                <a:latin typeface="Aptos"/>
              </a:rPr>
              <a:t>4. ADALINE memberikan performa lebih tinggi pada konfigurasi yang diuji; kedua model tetap memiliki keterbatasan sebagai model linear.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43400"/>
            <a:ext cx="10515600" cy="1005840"/>
          </a:xfrm>
          <a:prstGeom prst="round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4343400"/>
            <a:ext cx="64008" cy="100584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471416"/>
            <a:ext cx="1020470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82744"/>
                </a:solidFill>
                <a:latin typeface="Aptos"/>
              </a:rPr>
              <a:t>Referensi utama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73752"/>
            <a:ext cx="10204704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B3441"/>
                </a:solidFill>
                <a:latin typeface="Aptos"/>
              </a:rPr>
              <a:t>Rosenblatt (1958), The Perceptron: A Probabilistic Model for Information Storage and Organization in the Brain.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B3441"/>
                </a:solidFill>
                <a:latin typeface="Aptos"/>
              </a:rPr>
              <a:t>Widrow &amp; Hoff (1960), Adaptive Switching Circuits.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715000"/>
            <a:ext cx="10332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06C7C"/>
                </a:solidFill>
                <a:latin typeface="Aptos"/>
              </a:rPr>
              <a:t>Nama/NIM anggota kelompok perlu diisi sebelum presentasi.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810</Words>
  <Application>Microsoft Office PowerPoint</Application>
  <PresentationFormat>Widescreen</PresentationFormat>
  <Paragraphs>126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REVALDO HOHARY</cp:lastModifiedBy>
  <cp:revision>2</cp:revision>
  <dcterms:created xsi:type="dcterms:W3CDTF">2013-01-27T09:14:16Z</dcterms:created>
  <dcterms:modified xsi:type="dcterms:W3CDTF">2026-10-12T16:18:18Z</dcterms:modified>
  <cp:category/>
</cp:coreProperties>
</file>